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" cy="5079492"/>
          </a:xfrm>
          <a:prstGeom prst="rect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77240"/>
            <a:ext cx="2011680" cy="320040"/>
          </a:xfrm>
          <a:prstGeom prst="rect">
            <a:avLst>
              <a:gd name="adj" fmla="val 14286"/>
            </a:avLst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FFAFE"/>
                </a:solidFill>
              </a:rPr>
              <a:t>FINAL YEAR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SOC Analyst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Threat Investigation &amp; Incident Reporting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8046720" cy="0"/>
          </a:xfrm>
          <a:prstGeom prst="line">
            <a:avLst/>
          </a:prstGeom>
          <a:noFill/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Timeline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Attacks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Demo scenarios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~$20/mo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API cost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01C3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Powered by LangGraph · Claude API · XGBoost · MITRE ATT&amp;CK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SOC analysts are overwhelmed — and existing tools don't help.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19659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25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Average SOC receives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6276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" y="22128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alerts per 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65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8872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325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Wasted analyst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16276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78608" y="22128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are false positives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1965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88720"/>
            <a:ext cx="19659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325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Mean time to detect (IBM)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27448" y="16276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days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27448" y="22128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to detect a breach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965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8872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1325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Salary cost, high burnout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76288" y="16276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$80k/yr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76288" y="22128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per Tier-1 analyst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291840"/>
            <a:ext cx="8503920" cy="1371600"/>
          </a:xfrm>
          <a:prstGeom prst="rect">
            <a:avLst/>
          </a:prstGeom>
          <a:solidFill>
            <a:srgbClr val="101C3A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FAFE"/>
                </a:solidFill>
              </a:rPr>
              <a:t>The root cause: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7033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Existing SIEM tools (Splunk, QRadar, Microsoft Sentinel) use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rule-based correlation dressed up as AI.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They produce alerts — not decisions. No reasoning. No investigation. No explanation.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 fully agentic AI system that thinks, investigates, and reports like a Tier-1 analyst.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63040" cy="914400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Ingested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417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234440"/>
            <a:ext cx="1463040" cy="91440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234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417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49040" y="1234440"/>
            <a:ext cx="1463040" cy="9144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234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Investigates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417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0" y="1234440"/>
            <a:ext cx="1463040" cy="91440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234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1417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23760" y="1234440"/>
            <a:ext cx="1463040" cy="9144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234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4114800" cy="640080"/>
          </a:xfrm>
          <a:prstGeom prst="rect">
            <a:avLst/>
          </a:prstGeom>
          <a:solidFill>
            <a:srgbClr val="101C3A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377440"/>
            <a:ext cx="73152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4323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 Triage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" y="2679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ML classifier scores every alert — severity + false positive probability, auto-closes noise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127248"/>
            <a:ext cx="4114800" cy="640080"/>
          </a:xfrm>
          <a:prstGeom prst="rect">
            <a:avLst/>
          </a:prstGeom>
          <a:solidFill>
            <a:srgbClr val="101C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127248"/>
            <a:ext cx="7315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182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Autonomous Investigation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" y="3429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 agent queries VirusTotal, AbuseIPDB, logs, asset DB — builds evidence chain automatically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877056"/>
            <a:ext cx="4114800" cy="640080"/>
          </a:xfrm>
          <a:prstGeom prst="rect">
            <a:avLst/>
          </a:prstGeom>
          <a:solidFill>
            <a:srgbClr val="101C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877056"/>
            <a:ext cx="7315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MITRE ATT&amp;CK Mapping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" y="4178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Auto-maps every finding to tactic + technique ID from the MITRE ATT&amp;CK framework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377440"/>
            <a:ext cx="4114800" cy="640080"/>
          </a:xfrm>
          <a:prstGeom prst="rect">
            <a:avLst/>
          </a:prstGeom>
          <a:solidFill>
            <a:srgbClr val="101C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377440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4323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Incident Report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2679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Structured 7-section report with full reasoning trace, confidence score, and recommended action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127248"/>
            <a:ext cx="4114800" cy="640080"/>
          </a:xfrm>
          <a:prstGeom prst="rect">
            <a:avLst/>
          </a:prstGeom>
          <a:solidFill>
            <a:srgbClr val="101C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127248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182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Analyst Feedback Loop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3429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Analysts mark decisions correct/wrong — feedback is logged to continuously improve the agent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7C3AED">
              <a:alpha val="12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9144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14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Dashboard (Streamlit)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Alert Queue  |  Live Investigation  |  Reports  |  Analytics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8503920" cy="621792"/>
          </a:xfrm>
          <a:prstGeom prst="rect">
            <a:avLst/>
          </a:prstGeom>
          <a:solidFill>
            <a:srgbClr val="1A56DB">
              <a:alpha val="12000"/>
            </a:srgbClr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91440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Agentic Core (LangGraph)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892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ReAct Agent  →  SOC Analyst Persona  →  Tool Orchestration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8503920" cy="621792"/>
          </a:xfrm>
          <a:prstGeom prst="rect">
            <a:avLst/>
          </a:prstGeom>
          <a:solidFill>
            <a:srgbClr val="0891B2">
              <a:alpha val="12000"/>
            </a:srgbClr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31720"/>
            <a:ext cx="9144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Tool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6243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check_ip_reputation()  |  search_logs()  |  lookup_mitre()  |  get_asset_info()  |  check_domain()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8503920" cy="621792"/>
          </a:xfrm>
          <a:prstGeom prst="rect">
            <a:avLst/>
          </a:prstGeom>
          <a:solidFill>
            <a:srgbClr val="10B981">
              <a:alpha val="12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63240"/>
            <a:ext cx="9144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ML Triage (XGBoost)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3558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Feature Engineering  →  Severity Score 0–1  →  False Positive Probability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4760"/>
            <a:ext cx="8503920" cy="621792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94760"/>
            <a:ext cx="9144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4087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SQLite (alerts + reports + cases)  |  MITRE STIX (local)  |  BOTS v3 dataset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1490472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2221992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2953512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3685032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Everything runs locally. No GPU needed. Total cost ~$20/month.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1078992"/>
          </a:xfrm>
          <a:prstGeom prst="rect">
            <a:avLst/>
          </a:prstGeom>
          <a:solidFill>
            <a:srgbClr val="101C3A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984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LLM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 claude-sonnet-4-20250514 / GPT-4o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810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Long context window, native tool 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97480" cy="1078992"/>
          </a:xfrm>
          <a:prstGeom prst="rect">
            <a:avLst/>
          </a:prstGeom>
          <a:solidFill>
            <a:srgbClr val="101C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18872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984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Agent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0128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LangGraph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810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Stateful multi-step ReAct agent orchestration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697480" cy="1078992"/>
          </a:xfrm>
          <a:prstGeom prst="rect">
            <a:avLst/>
          </a:prstGeom>
          <a:solidFill>
            <a:srgbClr val="101C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188720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2984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ML Triage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90488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0488" y="1810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Fast, accurate, explainable — no GPU needed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423160"/>
            <a:ext cx="2697480" cy="1078992"/>
          </a:xfrm>
          <a:prstGeom prst="rect">
            <a:avLst/>
          </a:prstGeom>
          <a:solidFill>
            <a:srgbClr val="101C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423160"/>
            <a:ext cx="26974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Backend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" y="30449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REST + WebSocket API for agent + dashboard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423160"/>
            <a:ext cx="2697480" cy="1078992"/>
          </a:xfrm>
          <a:prstGeom prst="rect">
            <a:avLst/>
          </a:prstGeom>
          <a:solidFill>
            <a:srgbClr val="101C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42316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0128" y="30449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Rapid UI — 4 pages in days, not weeks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423160"/>
            <a:ext cx="2697480" cy="1078992"/>
          </a:xfrm>
          <a:prstGeom prst="rect">
            <a:avLst/>
          </a:prstGeom>
          <a:solidFill>
            <a:srgbClr val="101C3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423160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Threat Intel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048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VirusTotal + AbuseIPDB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90488" y="30449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Free tiers, real-world IP/domain reputation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657600"/>
            <a:ext cx="2697480" cy="1078992"/>
          </a:xfrm>
          <a:prstGeom prst="rect">
            <a:avLst/>
          </a:prstGeom>
          <a:solidFill>
            <a:srgbClr val="101C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657600"/>
            <a:ext cx="26974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37673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MITRE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STIX JSON (local)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29768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Offline ATT&amp;CK lookup, fast queries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3657600"/>
            <a:ext cx="2697480" cy="1078992"/>
          </a:xfrm>
          <a:prstGeom prst="rect">
            <a:avLst/>
          </a:prstGeom>
          <a:solidFill>
            <a:srgbClr val="101C3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3657600"/>
            <a:ext cx="269748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37673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Storage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10128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SQLite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310128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Zero-config, runs anywhere, no server needed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80760" y="3657600"/>
            <a:ext cx="2697480" cy="1078992"/>
          </a:xfrm>
          <a:prstGeom prst="rect">
            <a:avLst/>
          </a:prstGeom>
          <a:solidFill>
            <a:srgbClr val="101C3A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80760" y="3657600"/>
            <a:ext cx="269748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0488" y="37673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90488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 + Railway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190488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One command deploy, free tier hosting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4 — Roles &amp; Ownership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Clear ownership. Parallel workstreams. No bottlenecks.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01168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280160"/>
            <a:ext cx="640080" cy="640080"/>
          </a:xfrm>
          <a:prstGeom prst="ellipse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Person 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ML Engineer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1645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974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XGBoost triage classifier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363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Feature engineering (CICIDS 2018)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57530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Evaluation metrics + graphs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1421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Model performance benchmarks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114300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14300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1280160"/>
            <a:ext cx="640080" cy="6400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5603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Person 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AI / Agent Engineer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2578608"/>
            <a:ext cx="1645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6974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LangGraph ReAct agent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31363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SOC analyst system prompt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357530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Tool definitions + logic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401421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Agent reasoning + MITRE mapping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114300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143000"/>
            <a:ext cx="20116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1280160"/>
            <a:ext cx="640080" cy="64008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C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091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Person 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916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Backend Engineer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578608"/>
            <a:ext cx="1645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974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FastAPI endpoints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31363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SQLite DB schema + queries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357530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VirusTotal + AbuseIPDB tools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401421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WebSocket streaming + auth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114300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114300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52360" y="128016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D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8580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Person 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5800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Frontend + DevOps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2578608"/>
            <a:ext cx="1645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26974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Streamlit dashboard (4 pages)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31363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Docker + Railway deployment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03720" y="357530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Research paper + figures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03720" y="401421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Demo video +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3794760"/>
          </a:xfrm>
          <a:prstGeom prst="rect">
            <a:avLst/>
          </a:prstGeom>
          <a:solidFill>
            <a:srgbClr val="101C3A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196596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Weeks 1–3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Foundation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1783080" cy="0"/>
          </a:xfrm>
          <a:prstGeom prst="line">
            <a:avLst/>
          </a:prstGeom>
          <a:noFill/>
          <a:ln w="635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57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Environment setup + API keys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ML triage classifier (XGBoost)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All 5 agent tools working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914400"/>
            <a:ext cx="1965960" cy="3794760"/>
          </a:xfrm>
          <a:prstGeom prst="rect">
            <a:avLst/>
          </a:prstGeom>
          <a:solidFill>
            <a:srgbClr val="101C3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91440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0241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12801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Weeks 4–7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Agentic Core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60320" y="1920240"/>
            <a:ext cx="178308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057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LangGraph ReAct agent built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2560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Incident report generator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3063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5 attack scenarios tested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914400"/>
            <a:ext cx="1965960" cy="3794760"/>
          </a:xfrm>
          <a:prstGeom prst="rect">
            <a:avLst/>
          </a:prstGeom>
          <a:solidFill>
            <a:srgbClr val="101C3A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914400"/>
            <a:ext cx="19659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0241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Phase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12801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Weeks 8–10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Dashboard + Eval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09160" y="1920240"/>
            <a:ext cx="1783080" cy="0"/>
          </a:xfrm>
          <a:prstGeom prst="line">
            <a:avLst/>
          </a:prstGeom>
          <a:noFill/>
          <a:ln w="635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057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Full Streamlit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2560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Evaluation metrics collected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3063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Live deployment on Railway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914400"/>
            <a:ext cx="1965960" cy="3794760"/>
          </a:xfrm>
          <a:prstGeom prst="rect">
            <a:avLst/>
          </a:prstGeom>
          <a:solidFill>
            <a:srgbClr val="101C3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914400"/>
            <a:ext cx="1965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10241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12801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Weeks 11–12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Paper + Polish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1920240"/>
            <a:ext cx="1783080" cy="0"/>
          </a:xfrm>
          <a:prstGeom prst="line">
            <a:avLst/>
          </a:prstGeom>
          <a:noFill/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2057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Research paper written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2560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Presentation slides ready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3063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Demo video recorded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2860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4348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5836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solidFill>
            <a:srgbClr val="101C3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Week-by-week task breakdown with all 4 roles assigned — available in project plan document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Demo Attack Scenarios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All built from the Splunk BOTS v3 dataset — real-world attacks, not toy examples.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44168"/>
            <a:ext cx="347472" cy="347472"/>
          </a:xfrm>
          <a:prstGeom prst="rect">
            <a:avLst/>
          </a:prstGeom>
          <a:solidFill>
            <a:srgbClr val="1A56DB">
              <a:alpha val="20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Port Scan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Attacker maps the network, identifies open ports and live hosts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98448"/>
            <a:ext cx="1828800" cy="274320"/>
          </a:xfrm>
          <a:prstGeom prst="rect">
            <a:avLst/>
          </a:prstGeom>
          <a:solidFill>
            <a:srgbClr val="1A56DB">
              <a:alpha val="12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Reconnaissance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600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MITRE: TA0043 · T1046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4173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Dataset: BOTS v3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38528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38528"/>
            <a:ext cx="73152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093976"/>
            <a:ext cx="347472" cy="347472"/>
          </a:xfrm>
          <a:prstGeom prst="rect">
            <a:avLst/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93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Brute Force Login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286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Repeated login attempts against SSH or web login over short window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048256"/>
            <a:ext cx="1828800" cy="274320"/>
          </a:xfrm>
          <a:prstGeom prst="rect">
            <a:avLst/>
          </a:prstGeom>
          <a:solidFill>
            <a:srgbClr val="EF4444">
              <a:alpha val="12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048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Credential Access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350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MITRE: TA0006 · T1110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167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Dataset: BOTS v3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688336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688336"/>
            <a:ext cx="7315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843784"/>
            <a:ext cx="347472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843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C2 Beaconing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3035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Compromised host pings attacker server at regular intervals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798064"/>
            <a:ext cx="1828800" cy="27432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798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Command &amp; Control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3099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MITRE: TA0011 · T1071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29169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Dataset: BOTS v3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438144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438144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3593592"/>
            <a:ext cx="347472" cy="347472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93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Data Exfiltration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0120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Large outbound data transfer to suspicious external IP address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547872"/>
            <a:ext cx="1828800" cy="27432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Exfiltration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3849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MITRE: TA0010 · T1041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3666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Dataset: BOTS v3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187952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187952"/>
            <a:ext cx="7315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4343400"/>
            <a:ext cx="347472" cy="347472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0120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Ransomware Staging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60120" y="4535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Rapid file encryption activity, shadow copy deletion detected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4297680"/>
            <a:ext cx="1828800" cy="274320"/>
          </a:xfrm>
          <a:prstGeom prst="rect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Impact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0" y="4599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MITRE: TA0040 · T1486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58000" y="4416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Dataset: BOTS v3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1 — Requirements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FAFE"/>
                </a:solidFill>
              </a:rPr>
              <a:t>API Keys (All Free)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14800" cy="457200"/>
          </a:xfrm>
          <a:prstGeom prst="rect">
            <a:avLst/>
          </a:prstGeom>
          <a:solidFill>
            <a:srgbClr val="101C3A"/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07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Anthropic Claude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console.anthropic.com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1353312"/>
            <a:ext cx="685800" cy="256032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353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~$20/mo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4114800" cy="457200"/>
          </a:xfrm>
          <a:prstGeom prst="rect">
            <a:avLst/>
          </a:prstGeom>
          <a:solidFill>
            <a:srgbClr val="101C3A"/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562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VirusTotal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0482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virustotal.com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1901952"/>
            <a:ext cx="68580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90195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4114800" cy="457200"/>
          </a:xfrm>
          <a:prstGeom prst="rect">
            <a:avLst/>
          </a:prstGeom>
          <a:solidFill>
            <a:srgbClr val="101C3A"/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04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AbuseIPDB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abuseipdb.com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2450592"/>
            <a:ext cx="68580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45059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07792"/>
            <a:ext cx="4114800" cy="457200"/>
          </a:xfrm>
          <a:prstGeom prst="rect">
            <a:avLst/>
          </a:prstGeom>
          <a:solidFill>
            <a:srgbClr val="101C3A"/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535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Shodan (optional)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1455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shodan.io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11880" y="2999232"/>
            <a:ext cx="68580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9992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FAFE"/>
                </a:solidFill>
              </a:rPr>
              <a:t>Datasets (All Free)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1261872"/>
            <a:ext cx="4114800" cy="457200"/>
          </a:xfrm>
          <a:prstGeom prst="rect">
            <a:avLst/>
          </a:prstGeom>
          <a:solidFill>
            <a:srgbClr val="101C3A"/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307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BOTS v3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14996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github.com/splunk/botsv3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60920" y="1353312"/>
            <a:ext cx="1325880" cy="256032"/>
          </a:xfrm>
          <a:prstGeom prst="rect">
            <a:avLst/>
          </a:prstGeom>
          <a:solidFill>
            <a:srgbClr val="1A56DB">
              <a:alpha val="15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13533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Demo scenarios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810512"/>
            <a:ext cx="4114800" cy="457200"/>
          </a:xfrm>
          <a:prstGeom prst="rect">
            <a:avLst/>
          </a:prstGeom>
          <a:solidFill>
            <a:srgbClr val="101C3A"/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8562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CICIDS 2018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20482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unb.ca/cic/datasets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1901952"/>
            <a:ext cx="1325880" cy="256032"/>
          </a:xfrm>
          <a:prstGeom prst="rect">
            <a:avLst/>
          </a:prstGeom>
          <a:solidFill>
            <a:srgbClr val="1A56DB">
              <a:alpha val="15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190195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ML training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359152"/>
            <a:ext cx="4114800" cy="457200"/>
          </a:xfrm>
          <a:prstGeom prst="rect">
            <a:avLst/>
          </a:prstGeom>
          <a:solidFill>
            <a:srgbClr val="101C3A"/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404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MITRE STIX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2596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github.com/mitre/cti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60920" y="2450592"/>
            <a:ext cx="1325880" cy="256032"/>
          </a:xfrm>
          <a:prstGeom prst="rect">
            <a:avLst/>
          </a:prstGeom>
          <a:solidFill>
            <a:srgbClr val="1A56DB">
              <a:alpha val="15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245059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ATT&amp;CK lookup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2907792"/>
            <a:ext cx="4114800" cy="457200"/>
          </a:xfrm>
          <a:prstGeom prst="rect">
            <a:avLst/>
          </a:prstGeom>
          <a:solidFill>
            <a:srgbClr val="101C3A"/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9535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UNSW-NB15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31455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research.unsw.edu.au/projects/cit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60920" y="2999232"/>
            <a:ext cx="1325880" cy="256032"/>
          </a:xfrm>
          <a:prstGeom prst="rect">
            <a:avLst/>
          </a:prstGeom>
          <a:solidFill>
            <a:srgbClr val="1A56DB">
              <a:alpha val="15000"/>
            </a:srgbClr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920" y="299923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ML testing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060E22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langgraph langchain langchain-anthropic fastapi uvicorn xgboost scikit-learn streamlit reportlab requests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Unique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Most student projects stop at alert classification. We go 3 levels deeper.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91440" cy="10515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298448"/>
            <a:ext cx="914400" cy="256032"/>
          </a:xfrm>
          <a:prstGeom prst="rect">
            <a:avLst/>
          </a:prstGeom>
          <a:solidFill>
            <a:srgbClr val="94A3B8">
              <a:alpha val="1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Level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What others 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1645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Train a classifier on CICIDS dataset → predict malicious/benign → show accuracy score. Done.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7744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2487168"/>
            <a:ext cx="914400" cy="256032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487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Level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What most stop 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" y="2834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Add an LLM to summarize the alert in plain English. Still just restating the alert, not investigating.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566160"/>
            <a:ext cx="85039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66160"/>
            <a:ext cx="9144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3675888"/>
            <a:ext cx="91440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6758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Level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What we build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" y="40233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Autonomous agent that actively investigates — calls external tools, builds evidence chains, reasons step-by-step, maps to MITRE ATT&amp;CK, explains every decision with confidence score.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Open source → SaaS → Mid-market → Enterprise. Clear path from project to startup.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3566160"/>
          </a:xfrm>
          <a:prstGeom prst="rect">
            <a:avLst/>
          </a:prstGeom>
          <a:solidFill>
            <a:srgbClr val="101C3A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9659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Students / Startups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Free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" y="2304288"/>
            <a:ext cx="1783080" cy="0"/>
          </a:xfrm>
          <a:prstGeom prst="line">
            <a:avLst/>
          </a:prstGeom>
          <a:noFill/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Open source on GitHub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26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Build credibility + stars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Community traction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1143000"/>
            <a:ext cx="1965960" cy="3566160"/>
          </a:xfrm>
          <a:prstGeom prst="rect">
            <a:avLst/>
          </a:prstGeom>
          <a:solidFill>
            <a:srgbClr val="101C3A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1143000"/>
            <a:ext cx="196596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261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SMB SaaS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1536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Small SOC teams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18470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DB"/>
                </a:solidFill>
              </a:rPr>
              <a:t>$299–999/mo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560320" y="2304288"/>
            <a:ext cx="1783080" cy="0"/>
          </a:xfrm>
          <a:prstGeom prst="line">
            <a:avLst/>
          </a:prstGeom>
          <a:noFill/>
          <a:ln w="635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Hosted deployment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2926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 integrations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50k alerts/day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143000"/>
            <a:ext cx="1965960" cy="3566160"/>
          </a:xfrm>
          <a:prstGeom prst="rect">
            <a:avLst/>
          </a:prstGeom>
          <a:solidFill>
            <a:srgbClr val="101C3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114300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261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Mid-Market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1536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Growing companies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18470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$2k–10k/mo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09160" y="2304288"/>
            <a:ext cx="1783080" cy="0"/>
          </a:xfrm>
          <a:prstGeom prst="line">
            <a:avLst/>
          </a:prstGeom>
          <a:noFill/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Custom integrations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2926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SLA guarantee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Dedicated instance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1143000"/>
            <a:ext cx="1965960" cy="3566160"/>
          </a:xfrm>
          <a:prstGeom prst="rect">
            <a:avLst/>
          </a:prstGeom>
          <a:solidFill>
            <a:srgbClr val="101C3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114300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1261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1536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Large orgs / Banks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18470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$50k–200k/yr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858000" y="2304288"/>
            <a:ext cx="1783080" cy="0"/>
          </a:xfrm>
          <a:prstGeom prst="line">
            <a:avLst/>
          </a:prstGeom>
          <a:noFill/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On-prem deployment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2926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SSO + compliance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Audit reports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solidFill>
            <a:srgbClr val="101C3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Comparable companies: Darktrace ($1.7B) · Vectra AI ($200M raised) · Recorded Future ($780M acquisition)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Have at Week 12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804672"/>
          </a:xfrm>
          <a:prstGeom prst="rect">
            <a:avLst/>
          </a:prstGeom>
          <a:solidFill>
            <a:srgbClr val="101C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21615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16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Working AI SOC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624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LangGraph ReAct agent — full investigation 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804672"/>
          </a:xfrm>
          <a:prstGeom prst="rect">
            <a:avLst/>
          </a:prstGeom>
          <a:solidFill>
            <a:srgbClr val="101C3A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73152" cy="8046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121615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16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051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triage classifier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3624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XGBoost on CICIDS 2018 — severity + FP probability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20240"/>
            <a:ext cx="4114800" cy="804672"/>
          </a:xfrm>
          <a:prstGeom prst="rect">
            <a:avLst/>
          </a:prstGeom>
          <a:solidFill>
            <a:srgbClr val="101C3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920240"/>
            <a:ext cx="73152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217627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011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real attack scenario demos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23225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Port scan, brute force, C2, exfiltration, ransomware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920240"/>
            <a:ext cx="4114800" cy="804672"/>
          </a:xfrm>
          <a:prstGeom prst="rect">
            <a:avLst/>
          </a:prstGeom>
          <a:solidFill>
            <a:srgbClr val="101C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920240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217627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011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Incident report + reasoning chain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3225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7-section report with evidence, MITRE map, recommendation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4114800" cy="804672"/>
          </a:xfrm>
          <a:prstGeom prst="rect">
            <a:avLst/>
          </a:prstGeom>
          <a:solidFill>
            <a:srgbClr val="101C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880360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" y="313639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2971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dashboard (4 pages)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" y="32826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Streamlit — alert queue, live agent, reports, analytics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804672"/>
          </a:xfrm>
          <a:prstGeom prst="rect">
            <a:avLst/>
          </a:prstGeom>
          <a:solidFill>
            <a:srgbClr val="101C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880360"/>
            <a:ext cx="7315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313639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2971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 metrics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32826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MTTD ↓, FP reduction %, report accuracy score + graphs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840480"/>
            <a:ext cx="4114800" cy="804672"/>
          </a:xfrm>
          <a:prstGeom prst="rect">
            <a:avLst/>
          </a:prstGeom>
          <a:solidFill>
            <a:srgbClr val="101C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3840480"/>
            <a:ext cx="73152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" y="409651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4096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680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Public deployment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68680" y="42428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Docker + Railway — live URL anyone can access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840480"/>
            <a:ext cx="4114800" cy="804672"/>
          </a:xfrm>
          <a:prstGeom prst="rect">
            <a:avLst/>
          </a:prstGeom>
          <a:solidFill>
            <a:srgbClr val="101C3A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3840480"/>
            <a:ext cx="73152" cy="8046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19472" y="409651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4096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Research paper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03520" y="42428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Publishable paper with architecture, eval, results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SOC Analyst — Final Year Project</dc:title>
  <dc:subject>PptxGenJS Presentation</dc:subject>
  <dc:creator>PptxGenJS</dc:creator>
  <cp:lastModifiedBy>PptxGenJS</cp:lastModifiedBy>
  <cp:revision>1</cp:revision>
  <dcterms:created xsi:type="dcterms:W3CDTF">2026-05-17T08:03:27Z</dcterms:created>
  <dcterms:modified xsi:type="dcterms:W3CDTF">2026-05-17T08:03:27Z</dcterms:modified>
</cp:coreProperties>
</file>